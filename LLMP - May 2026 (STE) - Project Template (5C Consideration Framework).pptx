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316" r:id="rId3"/>
    <p:sldId id="315" r:id="rId4"/>
    <p:sldId id="328" r:id="rId5"/>
    <p:sldId id="335" r:id="rId6"/>
    <p:sldId id="318" r:id="rId7"/>
    <p:sldId id="332" r:id="rId8"/>
    <p:sldId id="333" r:id="rId9"/>
    <p:sldId id="33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4" autoAdjust="0"/>
    <p:restoredTop sz="94660"/>
  </p:normalViewPr>
  <p:slideViewPr>
    <p:cSldViewPr>
      <p:cViewPr varScale="1">
        <p:scale>
          <a:sx n="92" d="100"/>
          <a:sy n="92" d="100"/>
        </p:scale>
        <p:origin x="10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6C08D-527D-4B46-BF89-2DE77783E363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ED108-18F9-4E4B-B712-167868F55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52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FED108-18F9-4E4B-B712-167868F55E38}" type="slidenum">
              <a:rPr lang="en-US" smtClean="0"/>
              <a:pPr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0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233FF311-2C89-4AF9-97CA-317C144457B7}" type="datetime1">
              <a:rPr lang="en-US" smtClean="0"/>
              <a:t>5/18/2026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9A25C-2225-4182-8A11-27416F7875E3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DD4EBAA-C6A9-4C4B-95B3-1547F4CC1B3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6938-26F4-46B8-8DCE-5BE87DC06C54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714F0-7A49-441B-95D4-6508B4F15E9F}" type="datetime1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86F56-4CE8-47A5-9318-49D69B3262A1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AA438-652C-48C3-847F-0D00FFC63C61}" type="datetime1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C1EA1-6ED4-4FA4-8BF8-EC8100772F89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FF05-06AF-4DC2-9F69-99EB0A2B083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67763-F796-4109-976E-C2B15DB79A57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147B9-AA4D-45F3-85FF-D58118898EC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F9C77C4-BF43-470E-81E6-9E720A287CAC}" type="datetime1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356350"/>
            <a:ext cx="7467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LLMs in Production (May 2026 STE) - 5C Consideration Framework for LLM Implementation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F424A89-909B-4BA1-940E-23EAC9404E5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86E553-89B5-E41C-CE50-13427259ADF3}"/>
              </a:ext>
            </a:extLst>
          </p:cNvPr>
          <p:cNvSpPr txBox="1"/>
          <p:nvPr userDrawn="1"/>
        </p:nvSpPr>
        <p:spPr>
          <a:xfrm>
            <a:off x="2954701" y="6640813"/>
            <a:ext cx="32399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© National University of Singapore. All Rights Reserved.</a:t>
            </a:r>
            <a:endParaRPr lang="en-SG" sz="10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3638938"/>
            <a:ext cx="6858000" cy="1314062"/>
          </a:xfrm>
        </p:spPr>
        <p:txBody>
          <a:bodyPr anchor="ctr" anchorCtr="0">
            <a:normAutofit/>
          </a:bodyPr>
          <a:lstStyle/>
          <a:p>
            <a:r>
              <a:rPr lang="en-US" sz="3100" dirty="0"/>
              <a:t>Project Template</a:t>
            </a:r>
            <a:br>
              <a:rPr lang="en-US" dirty="0"/>
            </a:br>
            <a:r>
              <a:rPr lang="en-US" sz="1300" dirty="0"/>
              <a:t>Large Language Models in Production</a:t>
            </a:r>
            <a:br>
              <a:rPr lang="en-US" sz="1300" dirty="0"/>
            </a:br>
            <a:r>
              <a:rPr lang="en-US" sz="1300" dirty="0"/>
              <a:t>May 2026 (ST Engineering)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257799"/>
            <a:ext cx="6858000" cy="415635"/>
          </a:xfrm>
        </p:spPr>
        <p:txBody>
          <a:bodyPr>
            <a:noAutofit/>
          </a:bodyPr>
          <a:lstStyle/>
          <a:p>
            <a:r>
              <a:rPr lang="en-US" sz="1200" b="1" dirty="0"/>
              <a:t>Facilitator</a:t>
            </a:r>
            <a:r>
              <a:rPr lang="en-US" sz="1200" dirty="0"/>
              <a:t>: A/P TAN Wee Kek :: </a:t>
            </a:r>
            <a:r>
              <a:rPr lang="en-US" sz="1200" b="1" dirty="0"/>
              <a:t>Email</a:t>
            </a:r>
            <a:r>
              <a:rPr lang="en-US" sz="1200" dirty="0"/>
              <a:t>: distwk@nus.edu.sg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1B17D0D-2FCA-929C-35AE-9F7F89222025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5967940"/>
            <a:ext cx="2362800" cy="4205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B2F223-5B9B-2E00-B07B-FAA73BDAF4D1}"/>
              </a:ext>
            </a:extLst>
          </p:cNvPr>
          <p:cNvSpPr txBox="1"/>
          <p:nvPr/>
        </p:nvSpPr>
        <p:spPr>
          <a:xfrm>
            <a:off x="2954701" y="6640813"/>
            <a:ext cx="32399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50" dirty="0"/>
              <a:t>© National University of Singapore. All Rights Reserved.</a:t>
            </a:r>
            <a:endParaRPr lang="en-SG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DB586F-52D2-8687-24BE-427AE4E621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8" t="25556" r="10272" b="24444"/>
          <a:stretch>
            <a:fillRect/>
          </a:stretch>
        </p:blipFill>
        <p:spPr>
          <a:xfrm>
            <a:off x="914401" y="304800"/>
            <a:ext cx="2069254" cy="1981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84D5-4567-8DB9-5F9D-7C9BEFC2E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&lt;Project Title&gt;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FD0C24-0242-29E5-E05A-C163D2D6E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4400" y="4267200"/>
            <a:ext cx="3352800" cy="1905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Group Members: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XXX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XXX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XXX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XXX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XXX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0CA777-3F54-0AEC-9C72-1422686E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355080"/>
            <a:ext cx="7162800" cy="365760"/>
          </a:xfrm>
        </p:spPr>
        <p:txBody>
          <a:bodyPr/>
          <a:lstStyle/>
          <a:p>
            <a:r>
              <a:rPr lang="en-US" dirty="0"/>
              <a:t>LLMs in Production (May 2026 STE) - 5C Consideration Framework for LLM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9D4A3-BCB8-C871-66CD-327BCADB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F49AB5E-3D05-61F6-E091-61FC89D5D314}"/>
              </a:ext>
            </a:extLst>
          </p:cNvPr>
          <p:cNvSpPr txBox="1">
            <a:spLocks/>
          </p:cNvSpPr>
          <p:nvPr/>
        </p:nvSpPr>
        <p:spPr>
          <a:xfrm>
            <a:off x="1041862" y="4267200"/>
            <a:ext cx="3352800" cy="1905000"/>
          </a:xfrm>
          <a:prstGeom prst="rect">
            <a:avLst/>
          </a:prstGeom>
        </p:spPr>
        <p:txBody>
          <a:bodyPr vert="horz" anchor="t" anchorCtr="0">
            <a:norm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Group Number: XX</a:t>
            </a:r>
          </a:p>
        </p:txBody>
      </p:sp>
    </p:spTree>
    <p:extLst>
      <p:ext uri="{BB962C8B-B14F-4D97-AF65-F5344CB8AC3E}">
        <p14:creationId xmlns:p14="http://schemas.microsoft.com/office/powerpoint/2010/main" val="346409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075F-F6EE-0302-4BFF-732AB5AE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5C Consideration Framework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C9708-B3E6-2F96-B969-FBF093F66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LLMs in Production (May 2026 STE) - 5C Consideration Framework for LLM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48026-9E5F-45E6-C71D-07892F6F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6FCB974-B579-D6BD-97A3-70570881458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218" y="1195340"/>
            <a:ext cx="5135563" cy="51355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36AE65-901A-F24C-FD65-2234DF4E53DC}"/>
              </a:ext>
            </a:extLst>
          </p:cNvPr>
          <p:cNvSpPr txBox="1"/>
          <p:nvPr/>
        </p:nvSpPr>
        <p:spPr>
          <a:xfrm>
            <a:off x="366522" y="4780409"/>
            <a:ext cx="24528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5Cs</a:t>
            </a:r>
            <a:r>
              <a:rPr lang="en-US" dirty="0"/>
              <a:t> provide a quick but structured way to evaluate LLM implementation readiness.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5742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5A63-A0A2-C22D-1C8E-41106D56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5C Assessment Checklist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1C614B-810F-5666-6D30-9AE27B7C6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3DCE7-EE19-B977-81A1-129096345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5529340-CEFA-073C-F802-632FC719555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629370374"/>
              </p:ext>
            </p:extLst>
          </p:nvPr>
        </p:nvGraphicFramePr>
        <p:xfrm>
          <a:off x="457200" y="12192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83457390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385501504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6016489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Essential 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What to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743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Is the use case clearly defined?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Business value, users, workflow, risk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442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the system perform the task?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Required functions, architecture,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491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Can risks be managed?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Privacy, security, hallucination, human oversight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747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Is it economically sustainable?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 cost, run cost, scaling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372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Will people adopt it properly?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/>
                        <a:t>Training, workflow redesign, accountability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318014"/>
                  </a:ext>
                </a:extLst>
              </a:tr>
            </a:tbl>
          </a:graphicData>
        </a:graphic>
      </p:graphicFrame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E622BBDB-8B7A-55F2-5A22-EAF5A33F5201}"/>
              </a:ext>
            </a:extLst>
          </p:cNvPr>
          <p:cNvSpPr txBox="1">
            <a:spLocks/>
          </p:cNvSpPr>
          <p:nvPr/>
        </p:nvSpPr>
        <p:spPr>
          <a:xfrm>
            <a:off x="457200" y="4648200"/>
            <a:ext cx="8229600" cy="160020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Suggested decision logic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High value + manageable risk + sustainable cost → </a:t>
            </a:r>
            <a:r>
              <a:rPr lang="en-US" b="1" dirty="0"/>
              <a:t>Proceed</a:t>
            </a:r>
          </a:p>
          <a:p>
            <a:pPr lvl="1"/>
            <a:r>
              <a:rPr lang="en-US" dirty="0"/>
              <a:t>Unclear value + high risk + high cost → </a:t>
            </a:r>
            <a:r>
              <a:rPr lang="en-US" b="1" dirty="0"/>
              <a:t>Rethink</a:t>
            </a:r>
          </a:p>
          <a:p>
            <a:pPr lvl="1"/>
            <a:r>
              <a:rPr lang="en-US" dirty="0"/>
              <a:t>Useful but risky → </a:t>
            </a:r>
            <a:r>
              <a:rPr lang="en-US" b="1" dirty="0"/>
              <a:t>Pilot with strong controls and human oversight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2248155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43BC6-4BF2-E1EB-714A-5F577D8EA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C9C0-7DFB-733C-D11A-436DB43BC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C1: Context</a:t>
            </a:r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77E57-5338-0C3F-045E-AB7A9FEBE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B8E65-430D-C0AD-62DF-564F1101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FCAE1D-E089-8BFD-C0EF-C55EAB366A5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/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140044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50F6-6734-3230-9165-EC97F3AFA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C2: Capability</a:t>
            </a:r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527E0-30A0-7B8B-47C5-450E2A51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CA81D-3F43-A112-BD4A-18BCC1ADE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EEFF1F-EB6F-76D1-3FF9-CD550703EB1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37150"/>
          </a:xfrm>
        </p:spPr>
        <p:txBody>
          <a:bodyPr/>
          <a:lstStyle/>
          <a:p>
            <a:r>
              <a:rPr lang="en-SG" dirty="0"/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110450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DB0BA-DB75-F541-A566-CD2642CD8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A433-D41F-0CAC-AAE3-4FB0AAE2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C3: Control</a:t>
            </a:r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8D4C9-0AD3-1078-701F-A08C1ABAD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45198-2496-2143-4E37-DD3DBCA9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75543D-88C0-3893-A88B-D9754DD322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37150"/>
          </a:xfrm>
        </p:spPr>
        <p:txBody>
          <a:bodyPr/>
          <a:lstStyle/>
          <a:p>
            <a:r>
              <a:rPr lang="en-SG" dirty="0"/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1946204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9D523-F44B-7628-AF5C-1DD56DB65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FF872-A32B-5BC9-9A4F-FA08F94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C4: Cost</a:t>
            </a:r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54A85-7903-EA28-C791-AF4E099E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13D16-E0A8-5B9C-FFED-2B39CD1B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A2DC85-6CE6-9256-B758-25CEF7FFD2E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37150"/>
          </a:xfrm>
        </p:spPr>
        <p:txBody>
          <a:bodyPr/>
          <a:lstStyle/>
          <a:p>
            <a:r>
              <a:rPr lang="en-SG" dirty="0"/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3067381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236CF-897D-E2B0-1E2A-01C20BEB9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4AF23-629E-1DAD-C8F7-F605875B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C5: Change</a:t>
            </a:r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5916DC-E1D2-DDC3-1196-CA743A3F1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LLMs in Production (May 2026 STE) - 5C Consideration Framework for LLM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1B9C7-1AFA-C489-0446-C67F8610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24A89-909B-4BA1-940E-23EAC9404E5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2D92C6-079F-4E59-EFFF-A36C9596B18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37150"/>
          </a:xfrm>
        </p:spPr>
        <p:txBody>
          <a:bodyPr/>
          <a:lstStyle/>
          <a:p>
            <a:r>
              <a:rPr lang="en-SG" dirty="0"/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8815846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4816</TotalTime>
  <Words>342</Words>
  <Application>Microsoft Office PowerPoint</Application>
  <PresentationFormat>On-screen Show (4:3)</PresentationFormat>
  <Paragraphs>63</Paragraphs>
  <Slides>9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Bookman Old Style</vt:lpstr>
      <vt:lpstr>Calibri</vt:lpstr>
      <vt:lpstr>Gill Sans MT</vt:lpstr>
      <vt:lpstr>Wingdings</vt:lpstr>
      <vt:lpstr>Wingdings 3</vt:lpstr>
      <vt:lpstr>Origin</vt:lpstr>
      <vt:lpstr>Project Template Large Language Models in Production May 2026 (ST Engineering)</vt:lpstr>
      <vt:lpstr>&lt;Project Title&gt;</vt:lpstr>
      <vt:lpstr>The 5C Consideration Framework</vt:lpstr>
      <vt:lpstr>5C Assessment Checklist</vt:lpstr>
      <vt:lpstr>C1: Context</vt:lpstr>
      <vt:lpstr>C2: Capability</vt:lpstr>
      <vt:lpstr>C3: Control</vt:lpstr>
      <vt:lpstr>C4: Cost</vt:lpstr>
      <vt:lpstr>C5: Change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Tan Wee Kek</dc:creator>
  <cp:lastModifiedBy>Tan Wee Kek</cp:lastModifiedBy>
  <cp:revision>916</cp:revision>
  <dcterms:created xsi:type="dcterms:W3CDTF">2013-01-03T15:14:11Z</dcterms:created>
  <dcterms:modified xsi:type="dcterms:W3CDTF">2026-05-17T16:08:50Z</dcterms:modified>
</cp:coreProperties>
</file>